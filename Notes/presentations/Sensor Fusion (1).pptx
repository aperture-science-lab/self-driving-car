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VT323"/>
      <p:regular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aleway-bold.fntdata"/><Relationship Id="rId10" Type="http://schemas.openxmlformats.org/officeDocument/2006/relationships/slide" Target="slides/slide6.xml"/><Relationship Id="rId32" Type="http://schemas.openxmlformats.org/officeDocument/2006/relationships/font" Target="fonts/Raleway-regular.fntdata"/><Relationship Id="rId13" Type="http://schemas.openxmlformats.org/officeDocument/2006/relationships/slide" Target="slides/slide9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8.xml"/><Relationship Id="rId34" Type="http://schemas.openxmlformats.org/officeDocument/2006/relationships/font" Target="fonts/Raleway-italic.fntdata"/><Relationship Id="rId15" Type="http://schemas.openxmlformats.org/officeDocument/2006/relationships/slide" Target="slides/slide11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10.xml"/><Relationship Id="rId36" Type="http://schemas.openxmlformats.org/officeDocument/2006/relationships/font" Target="fonts/VT323-regular.fntdata"/><Relationship Id="rId17" Type="http://schemas.openxmlformats.org/officeDocument/2006/relationships/slide" Target="slides/slide13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2.xml"/><Relationship Id="rId38" Type="http://schemas.openxmlformats.org/officeDocument/2006/relationships/font" Target="fonts/RobotoMon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25627a22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25627a2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25627a22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25627a22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25627a22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25627a22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25627a22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25627a22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25627a22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25627a22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25627a22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25627a22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25627a22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25627a22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25627a22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25627a22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25627a22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25627a22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25627a22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25627a22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25627a22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25627a22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25627a22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25627a22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25627a22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25627a22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25627a22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825627a22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25627a22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25627a22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25627a22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25627a22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25627a22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25627a22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25627a222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25627a22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25627a222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825627a22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25627a22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25627a22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25627a22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25627a22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25627a22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25627a22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25627a22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25627a22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25627a22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25627a22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25627a222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825627a222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25627a222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25627a22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825627a22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825627a22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" name="Google Shape;11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/>
          <p:nvPr>
            <p:ph idx="2" type="pic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" name="Google Shape;16;p2" title="Sin título-2.png"/>
          <p:cNvPicPr preferRelativeResize="0"/>
          <p:nvPr/>
        </p:nvPicPr>
        <p:blipFill rotWithShape="1">
          <a:blip r:embed="rId3">
            <a:alphaModFix/>
          </a:blip>
          <a:srcRect b="0" l="61982" r="0" t="0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0" name="Google Shape;20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" name="Google Shape;22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>
            <p:ph idx="3" type="pic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8" name="Google Shape;28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31" name="Google Shape;31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" name="Google Shape;3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43" name="Google Shape;43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7" name="Google Shape;47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50" name="Google Shape;50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4" name="Google Shape;54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" name="Google Shape;56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2" name="Google Shape;62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65" name="Google Shape;6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8" name="Google Shape;68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3" name="Google Shape;7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/>
          <p:nvPr>
            <p:ph idx="2" type="pic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78" name="Google Shape;78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82" name="Google Shape;8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86" name="Google Shape;8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5" type="subTitle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6" type="subTitle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7" type="subTitle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8" type="subTitle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hasCustomPrompt="1"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hasCustomPrompt="1"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07" name="Google Shape;107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000" y="65480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" type="pic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20" name="Google Shape;120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4425" y="56780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5" name="Google Shape;125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29" name="Google Shape;129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32" name="Google Shape;13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idx="1" type="subTitle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2" type="subTitle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3" type="subTitle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hasCustomPrompt="1"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8"/>
          <p:cNvSpPr txBox="1"/>
          <p:nvPr>
            <p:ph hasCustomPrompt="1" idx="4" type="title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0" name="Google Shape;140;p18"/>
          <p:cNvSpPr txBox="1"/>
          <p:nvPr>
            <p:ph hasCustomPrompt="1" idx="5" type="title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1" name="Google Shape;141;p18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42" name="Google Shape;142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subTitle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hasCustomPrompt="1"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9"/>
          <p:cNvSpPr txBox="1"/>
          <p:nvPr>
            <p:ph hasCustomPrompt="1"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9"/>
          <p:cNvSpPr txBox="1"/>
          <p:nvPr>
            <p:ph hasCustomPrompt="1"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6" name="Google Shape;156;p19"/>
          <p:cNvSpPr txBox="1"/>
          <p:nvPr>
            <p:ph hasCustomPrompt="1"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7" name="Google Shape;157;p19"/>
          <p:cNvSpPr txBox="1"/>
          <p:nvPr>
            <p:ph hasCustomPrompt="1"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9"/>
          <p:cNvSpPr txBox="1"/>
          <p:nvPr>
            <p:ph hasCustomPrompt="1"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59" name="Google Shape;159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3" name="Google Shape;163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0"/>
          <p:cNvSpPr txBox="1"/>
          <p:nvPr>
            <p:ph hasCustomPrompt="1"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6" name="Google Shape;166;p20"/>
          <p:cNvSpPr txBox="1"/>
          <p:nvPr>
            <p:ph idx="1" type="subTitle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hasCustomPrompt="1" idx="2" type="title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8" name="Google Shape;168;p20"/>
          <p:cNvSpPr txBox="1"/>
          <p:nvPr>
            <p:ph idx="3" type="subTitle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72" name="Google Shape;172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21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5" name="Google Shape;175;p21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6" name="Google Shape;176;p21" title="Sin título-9.png"/>
          <p:cNvPicPr preferRelativeResize="0"/>
          <p:nvPr/>
        </p:nvPicPr>
        <p:blipFill rotWithShape="1">
          <a:blip r:embed="rId4">
            <a:alphaModFix/>
          </a:blip>
          <a:srcRect b="47106" l="19762" r="19446" t="14675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Trio and Aperture Science</a:t>
            </a:r>
            <a:endParaRPr b="1" sz="10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1" name="Google Shape;18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91450" y="4035750"/>
            <a:ext cx="1443400" cy="8119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rge the EV car. A charger is installed on the side of the road. Charge the battery from the charging stand. A car that considers the natural environment. (provided by Getty Images)" id="189" name="Google Shape;189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361" r="14368" t="0"/>
          <a:stretch/>
        </p:blipFill>
        <p:spPr>
          <a:xfrm>
            <a:off x="5805375" y="1317075"/>
            <a:ext cx="2831698" cy="2648100"/>
          </a:xfrm>
          <a:prstGeom prst="rect">
            <a:avLst/>
          </a:prstGeom>
        </p:spPr>
      </p:pic>
      <p:sp>
        <p:nvSpPr>
          <p:cNvPr id="190" name="Google Shape;190;p24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Vehicle State Estimation for Autonomous Systems</a:t>
            </a:r>
            <a:endParaRPr/>
          </a:p>
        </p:txBody>
      </p:sp>
      <p:sp>
        <p:nvSpPr>
          <p:cNvPr id="191" name="Google Shape;191;p24"/>
          <p:cNvSpPr txBox="1"/>
          <p:nvPr>
            <p:ph idx="1" type="subTitle"/>
          </p:nvPr>
        </p:nvSpPr>
        <p:spPr>
          <a:xfrm>
            <a:off x="606800" y="3626575"/>
            <a:ext cx="43515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Ali Almotazbellah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silhouette of a globe with a grid around it on a white background . (provided by Tenor)" id="196" name="Google Shape;196;p25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951" l="0" r="0" t="941"/>
          <a:stretch/>
        </p:blipFill>
        <p:spPr>
          <a:xfrm flipH="1">
            <a:off x="6386650" y="947025"/>
            <a:ext cx="2107500" cy="2067600"/>
          </a:xfrm>
          <a:prstGeom prst="rect">
            <a:avLst/>
          </a:prstGeom>
        </p:spPr>
      </p:pic>
      <p:sp>
        <p:nvSpPr>
          <p:cNvPr id="197" name="Google Shape;197;p25"/>
          <p:cNvSpPr txBox="1"/>
          <p:nvPr>
            <p:ph type="title"/>
          </p:nvPr>
        </p:nvSpPr>
        <p:spPr>
          <a:xfrm>
            <a:off x="668300" y="1555225"/>
            <a:ext cx="47727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Core Problem: Why is Localization Hard?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98" name="Google Shape;198;p25"/>
          <p:cNvSpPr txBox="1"/>
          <p:nvPr>
            <p:ph idx="1" type="subTitle"/>
          </p:nvPr>
        </p:nvSpPr>
        <p:spPr>
          <a:xfrm>
            <a:off x="3465325" y="3698875"/>
            <a:ext cx="5174400" cy="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An autonomous vehicle needs to answer a fundamental question: "Where am I?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720000" y="6721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Problem: Why is Localization Hard?</a:t>
            </a:r>
            <a:endParaRPr/>
          </a:p>
        </p:txBody>
      </p:sp>
      <p:sp>
        <p:nvSpPr>
          <p:cNvPr id="204" name="Google Shape;204;p26"/>
          <p:cNvSpPr txBox="1"/>
          <p:nvPr>
            <p:ph idx="2" type="subTitle"/>
          </p:nvPr>
        </p:nvSpPr>
        <p:spPr>
          <a:xfrm>
            <a:off x="4826925" y="1580125"/>
            <a:ext cx="3597000" cy="2622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Effector Uncertainty (Action):</a:t>
            </a:r>
            <a:r>
              <a:rPr lang="en">
                <a:solidFill>
                  <a:srgbClr val="000000"/>
                </a:solidFill>
              </a:rPr>
              <a:t> Commands aren't always executed perfectly.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Noise:</a:t>
            </a:r>
            <a:r>
              <a:rPr lang="en">
                <a:solidFill>
                  <a:srgbClr val="000000"/>
                </a:solidFill>
              </a:rPr>
              <a:t> Wheel slippage, slopes, unmodeled forces.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>
            <p:ph idx="1" type="subTitle"/>
          </p:nvPr>
        </p:nvSpPr>
        <p:spPr>
          <a:xfrm>
            <a:off x="720075" y="1580125"/>
            <a:ext cx="3597000" cy="2622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Sensor Uncertainty (Input):</a:t>
            </a:r>
            <a:r>
              <a:rPr lang="en">
                <a:solidFill>
                  <a:srgbClr val="000000"/>
                </a:solidFill>
              </a:rPr>
              <a:t> The world isn't always perceived perfectly.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Noise:</a:t>
            </a:r>
            <a:r>
              <a:rPr lang="en">
                <a:solidFill>
                  <a:srgbClr val="000000"/>
                </a:solidFill>
              </a:rPr>
              <a:t> Environmental factors (poor light, reflective surfaces).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Aliasing:</a:t>
            </a:r>
            <a:r>
              <a:rPr lang="en">
                <a:solidFill>
                  <a:srgbClr val="000000"/>
                </a:solidFill>
              </a:rPr>
              <a:t> Different places can look the same to sensors.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1388100" y="1469250"/>
            <a:ext cx="6367800" cy="236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00000"/>
                </a:solidFill>
              </a:rPr>
              <a:t>Goal:</a:t>
            </a:r>
            <a:r>
              <a:rPr lang="en" sz="5600">
                <a:solidFill>
                  <a:srgbClr val="000000"/>
                </a:solidFill>
              </a:rPr>
              <a:t> Combine imperfect information to create a single, highly accurate state estimate.</a:t>
            </a:r>
            <a:endParaRPr sz="5600"/>
          </a:p>
        </p:txBody>
      </p:sp>
      <p:pic>
        <p:nvPicPr>
          <p:cNvPr descr="success (provided by Getty Images)" id="211" name="Google Shape;2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275" y="3274575"/>
            <a:ext cx="1527148" cy="152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Sensor Suite</a:t>
            </a:r>
            <a:endParaRPr/>
          </a:p>
        </p:txBody>
      </p:sp>
      <p:pic>
        <p:nvPicPr>
          <p:cNvPr descr="Sensor icon symbol simple design (provided by Getty Images)" id="217" name="Google Shape;217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35" l="0" r="0" t="3245"/>
          <a:stretch/>
        </p:blipFill>
        <p:spPr>
          <a:xfrm>
            <a:off x="5805375" y="1317075"/>
            <a:ext cx="2831698" cy="2648100"/>
          </a:xfrm>
          <a:prstGeom prst="rect">
            <a:avLst/>
          </a:prstGeom>
        </p:spPr>
      </p:pic>
      <p:sp>
        <p:nvSpPr>
          <p:cNvPr id="218" name="Google Shape;218;p28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IMU, GNSS/GPS, LIDAR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900" r="5900" t="0"/>
          <a:stretch/>
        </p:blipFill>
        <p:spPr>
          <a:xfrm>
            <a:off x="522525" y="1195150"/>
            <a:ext cx="2947200" cy="3341400"/>
          </a:xfrm>
          <a:prstGeom prst="rect">
            <a:avLst/>
          </a:prstGeom>
        </p:spPr>
      </p:pic>
      <p:sp>
        <p:nvSpPr>
          <p:cNvPr id="224" name="Google Shape;224;p29"/>
          <p:cNvSpPr txBox="1"/>
          <p:nvPr>
            <p:ph type="title"/>
          </p:nvPr>
        </p:nvSpPr>
        <p:spPr>
          <a:xfrm>
            <a:off x="3789425" y="795800"/>
            <a:ext cx="45477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Inertial Measurement Unit (IMU)</a:t>
            </a:r>
            <a:endParaRPr sz="2600"/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3789425" y="1420500"/>
            <a:ext cx="4940100" cy="3341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Measures: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Angular Velocity (</a:t>
            </a:r>
            <a:r>
              <a:rPr lang="en">
                <a:solidFill>
                  <a:srgbClr val="188038"/>
                </a:solidFill>
              </a:rPr>
              <a:t>ω</a:t>
            </a:r>
            <a:r>
              <a:rPr lang="en">
                <a:solidFill>
                  <a:srgbClr val="000000"/>
                </a:solidFill>
              </a:rPr>
              <a:t>): Gyroscopes (Roll, Pitch, Yaw)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Specific Force (</a:t>
            </a:r>
            <a:r>
              <a:rPr lang="en">
                <a:solidFill>
                  <a:srgbClr val="188038"/>
                </a:solidFill>
              </a:rPr>
              <a:t>f</a:t>
            </a:r>
            <a:r>
              <a:rPr lang="en">
                <a:solidFill>
                  <a:srgbClr val="000000"/>
                </a:solidFill>
              </a:rPr>
              <a:t>): Accelerometers (X, Y, Z)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Strength:</a:t>
            </a:r>
            <a:r>
              <a:rPr lang="en">
                <a:solidFill>
                  <a:srgbClr val="000000"/>
                </a:solidFill>
              </a:rPr>
              <a:t> High-frequency updates (hundreds of Hz). Excellent for tracking fast motion.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Weakness: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Drift</a:t>
            </a:r>
            <a:r>
              <a:rPr lang="en">
                <a:solidFill>
                  <a:srgbClr val="000000"/>
                </a:solidFill>
              </a:rPr>
              <a:t>. Errors accumulate over time, leading to an unbounded position error.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Global Navigation Satellite System (GNSS)</a:t>
            </a:r>
            <a:endParaRPr sz="2600"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3789425" y="1616850"/>
            <a:ext cx="4940100" cy="3144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Measures:</a:t>
            </a:r>
            <a:r>
              <a:rPr lang="en">
                <a:solidFill>
                  <a:srgbClr val="000000"/>
                </a:solidFill>
              </a:rPr>
              <a:t> Absolute Position (</a:t>
            </a:r>
            <a:r>
              <a:rPr lang="en">
                <a:solidFill>
                  <a:srgbClr val="188038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) on Earth.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Principle:</a:t>
            </a:r>
            <a:r>
              <a:rPr lang="en">
                <a:solidFill>
                  <a:srgbClr val="000000"/>
                </a:solidFill>
              </a:rPr>
              <a:t> Trilateration from satellite signals.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Strength: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No Drift</a:t>
            </a:r>
            <a:r>
              <a:rPr lang="en">
                <a:solidFill>
                  <a:srgbClr val="000000"/>
                </a:solidFill>
              </a:rPr>
              <a:t>. Provides a global position reference.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Weaknesses: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000000"/>
                </a:solidFill>
              </a:rPr>
              <a:t>Low update rate (a few Hz).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000000"/>
                </a:solidFill>
              </a:rPr>
              <a:t>Low precision (meter-level error).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000000"/>
                </a:solidFill>
              </a:rPr>
              <a:t>Unavailable indoors, in tunnels, or "urban canyons".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pace station solid icon, space concept, communication satellite sign on white background, Orbiting space station icon in glyph style mobile concept web design. Vector graphics. (provided by Getty Images)" id="232" name="Google Shape;232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900" r="5900" t="0"/>
          <a:stretch/>
        </p:blipFill>
        <p:spPr>
          <a:xfrm>
            <a:off x="522525" y="1195150"/>
            <a:ext cx="2947200" cy="3341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Light Detection and Ranging (LiDAR)</a:t>
            </a:r>
            <a:endParaRPr sz="2600"/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3789425" y="1673625"/>
            <a:ext cx="4940100" cy="3088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Measures:</a:t>
            </a:r>
            <a:r>
              <a:rPr lang="en">
                <a:solidFill>
                  <a:srgbClr val="000000"/>
                </a:solidFill>
              </a:rPr>
              <a:t> Range (</a:t>
            </a:r>
            <a:r>
              <a:rPr lang="en">
                <a:solidFill>
                  <a:srgbClr val="188038"/>
                </a:solidFill>
              </a:rPr>
              <a:t>r</a:t>
            </a:r>
            <a:r>
              <a:rPr lang="en">
                <a:solidFill>
                  <a:srgbClr val="000000"/>
                </a:solidFill>
              </a:rPr>
              <a:t>), Azimuth (</a:t>
            </a:r>
            <a:r>
              <a:rPr lang="en">
                <a:solidFill>
                  <a:srgbClr val="188038"/>
                </a:solidFill>
              </a:rPr>
              <a:t>α</a:t>
            </a:r>
            <a:r>
              <a:rPr lang="en">
                <a:solidFill>
                  <a:srgbClr val="000000"/>
                </a:solidFill>
              </a:rPr>
              <a:t>), Elevation (</a:t>
            </a:r>
            <a:r>
              <a:rPr lang="en">
                <a:solidFill>
                  <a:srgbClr val="188038"/>
                </a:solidFill>
              </a:rPr>
              <a:t>ε</a:t>
            </a:r>
            <a:r>
              <a:rPr lang="en">
                <a:solidFill>
                  <a:srgbClr val="000000"/>
                </a:solidFill>
              </a:rPr>
              <a:t>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Principle:</a:t>
            </a:r>
            <a:r>
              <a:rPr lang="en">
                <a:solidFill>
                  <a:srgbClr val="000000"/>
                </a:solidFill>
              </a:rPr>
              <a:t> Time-of-Flight of laser pulses.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Output:</a:t>
            </a:r>
            <a:r>
              <a:rPr lang="en">
                <a:solidFill>
                  <a:srgbClr val="000000"/>
                </a:solidFill>
              </a:rPr>
              <a:t> A 3D </a:t>
            </a:r>
            <a:r>
              <a:rPr b="1" lang="en">
                <a:solidFill>
                  <a:srgbClr val="000000"/>
                </a:solidFill>
              </a:rPr>
              <a:t>Point Cloud</a:t>
            </a:r>
            <a:r>
              <a:rPr lang="en">
                <a:solidFill>
                  <a:srgbClr val="000000"/>
                </a:solidFill>
              </a:rPr>
              <a:t> of the environment.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Strength:</a:t>
            </a:r>
            <a:r>
              <a:rPr lang="en">
                <a:solidFill>
                  <a:srgbClr val="000000"/>
                </a:solidFill>
              </a:rPr>
              <a:t> Highly accurate and dense 3D measurements.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Weakness:</a:t>
            </a:r>
            <a:r>
              <a:rPr lang="en">
                <a:solidFill>
                  <a:srgbClr val="000000"/>
                </a:solidFill>
              </a:rPr>
              <a:t> Can be affected by weather (rain, fog) and highly reflective surfaces.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dar sensors autonomous delivery line icon vector illustration (provided by Getty Images)" id="239" name="Google Shape;239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900" r="5900" t="0"/>
          <a:stretch/>
        </p:blipFill>
        <p:spPr>
          <a:xfrm>
            <a:off x="522525" y="1195150"/>
            <a:ext cx="2947200" cy="3341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728950" y="1532500"/>
            <a:ext cx="45906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Error-State Extended Kalman Filter (ES-EKF) Loop</a:t>
            </a:r>
            <a:endParaRPr sz="2600"/>
          </a:p>
        </p:txBody>
      </p:sp>
      <p:pic>
        <p:nvPicPr>
          <p:cNvPr descr="File:Toicon-icon-lines-and-angles-filter.svg - Wikimedia Commons" id="245" name="Google Shape;245;p3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951" l="0" r="0" t="941"/>
          <a:stretch/>
        </p:blipFill>
        <p:spPr>
          <a:xfrm flipH="1">
            <a:off x="6386650" y="947025"/>
            <a:ext cx="2107500" cy="2067599"/>
          </a:xfrm>
          <a:prstGeom prst="rect">
            <a:avLst/>
          </a:prstGeom>
        </p:spPr>
      </p:pic>
      <p:sp>
        <p:nvSpPr>
          <p:cNvPr id="246" name="Google Shape;246;p32"/>
          <p:cNvSpPr txBox="1"/>
          <p:nvPr>
            <p:ph idx="1" type="subTitle"/>
          </p:nvPr>
        </p:nvSpPr>
        <p:spPr>
          <a:xfrm>
            <a:off x="3465325" y="3846275"/>
            <a:ext cx="5174400" cy="7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A recursive algorithm to optimally fuse uncertain information in a </a:t>
            </a:r>
            <a:r>
              <a:rPr b="1" i="1" lang="en">
                <a:solidFill>
                  <a:schemeClr val="dk2"/>
                </a:solidFill>
              </a:rPr>
              <a:t>Loosely-Coupled</a:t>
            </a:r>
            <a:r>
              <a:rPr i="1" lang="en">
                <a:solidFill>
                  <a:schemeClr val="dk2"/>
                </a:solidFill>
              </a:rPr>
              <a:t> architecture.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728650"/>
            <a:ext cx="8315326" cy="35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720000" y="697150"/>
            <a:ext cx="77040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ES-Extended Kalman Filter (ES-EKF) Loop</a:t>
            </a:r>
            <a:endParaRPr/>
          </a:p>
        </p:txBody>
      </p:sp>
      <p:sp>
        <p:nvSpPr>
          <p:cNvPr id="257" name="Google Shape;257;p34"/>
          <p:cNvSpPr txBox="1"/>
          <p:nvPr>
            <p:ph idx="1" type="subTitle"/>
          </p:nvPr>
        </p:nvSpPr>
        <p:spPr>
          <a:xfrm>
            <a:off x="183700" y="1580125"/>
            <a:ext cx="8754000" cy="1778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The Predict Step: Trusting the IMU (for a moment)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We use the high-frequency </a:t>
            </a:r>
            <a:r>
              <a:rPr b="1" lang="en">
                <a:solidFill>
                  <a:srgbClr val="000000"/>
                </a:solidFill>
              </a:rPr>
              <a:t>IMU</a:t>
            </a:r>
            <a:r>
              <a:rPr lang="en">
                <a:solidFill>
                  <a:srgbClr val="000000"/>
                </a:solidFill>
              </a:rPr>
              <a:t> data (</a:t>
            </a:r>
            <a:r>
              <a:rPr lang="en">
                <a:solidFill>
                  <a:srgbClr val="188038"/>
                </a:solidFill>
              </a:rPr>
              <a:t>f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188038"/>
                </a:solidFill>
              </a:rPr>
              <a:t>ω</a:t>
            </a:r>
            <a:r>
              <a:rPr lang="en">
                <a:solidFill>
                  <a:srgbClr val="000000"/>
                </a:solidFill>
              </a:rPr>
              <a:t>) as input to our </a:t>
            </a:r>
            <a:r>
              <a:rPr b="1" lang="en">
                <a:solidFill>
                  <a:srgbClr val="000000"/>
                </a:solidFill>
              </a:rPr>
              <a:t>Motion Model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000000"/>
                </a:solidFill>
              </a:rPr>
              <a:t>This model integrates the vehicle's kinematics forward in time.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Output:</a:t>
            </a:r>
            <a:r>
              <a:rPr lang="en">
                <a:solidFill>
                  <a:srgbClr val="000000"/>
                </a:solidFill>
              </a:rPr>
              <a:t> A </a:t>
            </a:r>
            <a:r>
              <a:rPr b="1" lang="en">
                <a:solidFill>
                  <a:srgbClr val="000000"/>
                </a:solidFill>
              </a:rPr>
              <a:t>Predicted State</a:t>
            </a:r>
            <a:r>
              <a:rPr lang="en">
                <a:solidFill>
                  <a:srgbClr val="000000"/>
                </a:solidFill>
              </a:rPr>
              <a:t> (</a:t>
            </a:r>
            <a:r>
              <a:rPr lang="en">
                <a:solidFill>
                  <a:srgbClr val="188038"/>
                </a:solidFill>
              </a:rPr>
              <a:t>x̃k</a:t>
            </a:r>
            <a:r>
              <a:rPr lang="en">
                <a:solidFill>
                  <a:srgbClr val="000000"/>
                </a:solidFill>
              </a:rPr>
              <a:t>). This is our best guess, but we know it has accumulated drift. Uncertainty increases.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Update state with IMU inputs</a:t>
            </a:r>
            <a:endParaRPr sz="2600"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145051" y="2118950"/>
            <a:ext cx="2803200" cy="2010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Velocity:</a:t>
            </a:r>
            <a:r>
              <a:rPr lang="en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</a:rPr>
              <a:t>vk = vk-1 + Δt * (Cns * fk-1 + g)</a:t>
            </a:r>
            <a:endParaRPr sz="1300"/>
          </a:p>
        </p:txBody>
      </p:sp>
      <p:sp>
        <p:nvSpPr>
          <p:cNvPr id="264" name="Google Shape;264;p35"/>
          <p:cNvSpPr txBox="1"/>
          <p:nvPr>
            <p:ph idx="2" type="subTitle"/>
          </p:nvPr>
        </p:nvSpPr>
        <p:spPr>
          <a:xfrm>
            <a:off x="341850" y="2118950"/>
            <a:ext cx="2803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Position:</a:t>
            </a:r>
            <a:r>
              <a:rPr lang="en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</a:rPr>
              <a:t>pk = pk-1 + Δt * vk-1 + (Δt²/2) * (Cns * fk-1 + g)</a:t>
            </a:r>
            <a:endParaRPr sz="1300"/>
          </a:p>
        </p:txBody>
      </p:sp>
      <p:sp>
        <p:nvSpPr>
          <p:cNvPr id="265" name="Google Shape;265;p35"/>
          <p:cNvSpPr txBox="1"/>
          <p:nvPr>
            <p:ph idx="3" type="subTitle"/>
          </p:nvPr>
        </p:nvSpPr>
        <p:spPr>
          <a:xfrm>
            <a:off x="5948250" y="2016950"/>
            <a:ext cx="25992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Orientation:</a:t>
            </a:r>
            <a:r>
              <a:rPr lang="en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</a:rPr>
              <a:t>qk = qk-1 ⊗ q(ωk-1 * Δt)</a:t>
            </a:r>
            <a:endParaRPr sz="1300">
              <a:solidFill>
                <a:srgbClr val="18803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i="1" lang="en" sz="1400">
                <a:solidFill>
                  <a:srgbClr val="000000"/>
                </a:solidFill>
              </a:rPr>
              <a:t>Orientation is represented by a unit quaternion (</a:t>
            </a:r>
            <a:r>
              <a:rPr i="1" lang="en" sz="1400">
                <a:solidFill>
                  <a:srgbClr val="188038"/>
                </a:solidFill>
              </a:rPr>
              <a:t>q</a:t>
            </a:r>
            <a:r>
              <a:rPr i="1" lang="en" sz="1400">
                <a:solidFill>
                  <a:srgbClr val="000000"/>
                </a:solidFill>
              </a:rPr>
              <a:t>) for numerical stability.</a:t>
            </a:r>
            <a:endParaRPr i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66" name="Google Shape;266;p35"/>
          <p:cNvSpPr txBox="1"/>
          <p:nvPr>
            <p:ph idx="4" type="title"/>
          </p:nvPr>
        </p:nvSpPr>
        <p:spPr>
          <a:xfrm>
            <a:off x="341800" y="1414250"/>
            <a:ext cx="79719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We use kinematic equations to predict the new state (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p̃k, ṽk, q̃k</a:t>
            </a:r>
            <a:r>
              <a:rPr lang="en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from the previous state and IMU inputs (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ω</a:t>
            </a:r>
            <a:r>
              <a:rPr lang="en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).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1886950" y="4128950"/>
            <a:ext cx="406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This gives us our best guess, but it includes accumulated drift.</a:t>
            </a:r>
            <a:endParaRPr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1609625" y="685800"/>
            <a:ext cx="3824100" cy="1380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Propagate uncertainty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1609625" y="2066125"/>
            <a:ext cx="3824100" cy="2106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We also </a:t>
            </a:r>
            <a:r>
              <a:rPr b="1" lang="en">
                <a:solidFill>
                  <a:srgbClr val="000000"/>
                </a:solidFill>
              </a:rPr>
              <a:t>linearize</a:t>
            </a:r>
            <a:r>
              <a:rPr lang="en">
                <a:solidFill>
                  <a:srgbClr val="000000"/>
                </a:solidFill>
              </a:rPr>
              <a:t> the motion model to propagate the uncertainty of the </a:t>
            </a:r>
            <a:r>
              <a:rPr b="1" lang="en">
                <a:solidFill>
                  <a:srgbClr val="000000"/>
                </a:solidFill>
              </a:rPr>
              <a:t>error state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Covariance Prediction: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188038"/>
                </a:solidFill>
              </a:rPr>
              <a:t>P̃k = Fk-1 * Pk-1 * Fk-1^T + Lk-1 * Qk-1 * Lk-1^T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Noun Robot 212089 4380c9.svg - Wikimedia Commons" id="274" name="Google Shape;274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75" r="16675" t="0"/>
          <a:stretch/>
        </p:blipFill>
        <p:spPr>
          <a:xfrm>
            <a:off x="5613800" y="226475"/>
            <a:ext cx="3277151" cy="4917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title"/>
          </p:nvPr>
        </p:nvSpPr>
        <p:spPr>
          <a:xfrm>
            <a:off x="720000" y="697150"/>
            <a:ext cx="7704000" cy="3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ES-Extended Kalman Filter (ES-EKF) Loop</a:t>
            </a:r>
            <a:endParaRPr/>
          </a:p>
        </p:txBody>
      </p:sp>
      <p:sp>
        <p:nvSpPr>
          <p:cNvPr id="280" name="Google Shape;280;p37"/>
          <p:cNvSpPr txBox="1"/>
          <p:nvPr>
            <p:ph idx="2" type="subTitle"/>
          </p:nvPr>
        </p:nvSpPr>
        <p:spPr>
          <a:xfrm>
            <a:off x="183702" y="1580125"/>
            <a:ext cx="8765100" cy="2389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The Update Step: Correcting with GPS/LiDAR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A low-frequency, high-accuracy </a:t>
            </a:r>
            <a:r>
              <a:rPr b="1" lang="en">
                <a:solidFill>
                  <a:srgbClr val="000000"/>
                </a:solidFill>
              </a:rPr>
              <a:t>Position Observation</a:t>
            </a:r>
            <a:r>
              <a:rPr lang="en">
                <a:solidFill>
                  <a:srgbClr val="000000"/>
                </a:solidFill>
              </a:rPr>
              <a:t> (</a:t>
            </a:r>
            <a:r>
              <a:rPr lang="en">
                <a:solidFill>
                  <a:srgbClr val="188038"/>
                </a:solidFill>
              </a:rPr>
              <a:t>yk</a:t>
            </a:r>
            <a:r>
              <a:rPr lang="en">
                <a:solidFill>
                  <a:srgbClr val="000000"/>
                </a:solidFill>
              </a:rPr>
              <a:t>) arrives from GPS or a LiDAR-based motion estimate.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This measurement is fused with the </a:t>
            </a:r>
            <a:r>
              <a:rPr b="1" lang="en">
                <a:solidFill>
                  <a:srgbClr val="000000"/>
                </a:solidFill>
              </a:rPr>
              <a:t>Predicted State</a:t>
            </a:r>
            <a:r>
              <a:rPr lang="en">
                <a:solidFill>
                  <a:srgbClr val="000000"/>
                </a:solidFill>
              </a:rPr>
              <a:t> in the </a:t>
            </a:r>
            <a:r>
              <a:rPr b="1" lang="en">
                <a:solidFill>
                  <a:srgbClr val="000000"/>
                </a:solidFill>
              </a:rPr>
              <a:t>Kalman Fusion</a:t>
            </a:r>
            <a:r>
              <a:rPr lang="en">
                <a:solidFill>
                  <a:srgbClr val="000000"/>
                </a:solidFill>
              </a:rPr>
              <a:t> step.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Output:</a:t>
            </a:r>
            <a:r>
              <a:rPr lang="en">
                <a:solidFill>
                  <a:srgbClr val="000000"/>
                </a:solidFill>
              </a:rPr>
              <a:t> A </a:t>
            </a:r>
            <a:r>
              <a:rPr b="1" lang="en">
                <a:solidFill>
                  <a:srgbClr val="000000"/>
                </a:solidFill>
              </a:rPr>
              <a:t>Corrected State</a:t>
            </a:r>
            <a:r>
              <a:rPr lang="en">
                <a:solidFill>
                  <a:srgbClr val="000000"/>
                </a:solidFill>
              </a:rPr>
              <a:t> (</a:t>
            </a:r>
            <a:r>
              <a:rPr lang="en">
                <a:solidFill>
                  <a:srgbClr val="188038"/>
                </a:solidFill>
              </a:rPr>
              <a:t>x̂k</a:t>
            </a:r>
            <a:r>
              <a:rPr lang="en">
                <a:solidFill>
                  <a:srgbClr val="000000"/>
                </a:solidFill>
              </a:rPr>
              <a:t>). The IMU's drift is corrected, and our overall uncertainty is reduced.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1755325" y="690550"/>
            <a:ext cx="7189200" cy="699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Update Measurement from LiDAR (ICP)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1755325" y="1390050"/>
            <a:ext cx="7189200" cy="342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To get a measurement (</a:t>
            </a:r>
            <a:r>
              <a:rPr lang="en" sz="1400">
                <a:solidFill>
                  <a:srgbClr val="188038"/>
                </a:solidFill>
              </a:rPr>
              <a:t>yk</a:t>
            </a:r>
            <a:r>
              <a:rPr lang="en" sz="1400">
                <a:solidFill>
                  <a:srgbClr val="000000"/>
                </a:solidFill>
              </a:rPr>
              <a:t>) from LiDAR, we align two point clouds using the </a:t>
            </a:r>
            <a:r>
              <a:rPr b="1" lang="en" sz="1400">
                <a:solidFill>
                  <a:srgbClr val="000000"/>
                </a:solidFill>
              </a:rPr>
              <a:t>Iterative Closest Point (ICP)</a:t>
            </a:r>
            <a:r>
              <a:rPr lang="en" sz="1400">
                <a:solidFill>
                  <a:srgbClr val="000000"/>
                </a:solidFill>
              </a:rPr>
              <a:t> algorithm.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</a:rPr>
              <a:t>Initial Guess:</a:t>
            </a:r>
            <a:r>
              <a:rPr lang="en" sz="1400">
                <a:solidFill>
                  <a:srgbClr val="000000"/>
                </a:solidFill>
              </a:rPr>
              <a:t> The high-rate prediction from the IMU motion model provides an excellent initial guess for the transformation, making ICP faster and more reliable.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188038"/>
                </a:solidFill>
              </a:rPr>
              <a:t>argmin_{C, r} Σ ||(C * ps + r) - p's'||²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1755325" y="690550"/>
            <a:ext cx="7189200" cy="699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Update Measurement from LiDAR (ICP)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1755325" y="1390050"/>
            <a:ext cx="7189200" cy="342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The ICP Procedure: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Get an </a:t>
            </a:r>
            <a:r>
              <a:rPr b="1" lang="en" sz="1400">
                <a:solidFill>
                  <a:srgbClr val="000000"/>
                </a:solidFill>
              </a:rPr>
              <a:t>initial guess</a:t>
            </a:r>
            <a:r>
              <a:rPr lang="en" sz="1400">
                <a:solidFill>
                  <a:srgbClr val="000000"/>
                </a:solidFill>
              </a:rPr>
              <a:t> for the transformation (from the IMU motion model).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Associate</a:t>
            </a:r>
            <a:r>
              <a:rPr lang="en" sz="1400">
                <a:solidFill>
                  <a:srgbClr val="000000"/>
                </a:solidFill>
              </a:rPr>
              <a:t> each point in the first cloud with the nearest point in the second.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Solve</a:t>
            </a:r>
            <a:r>
              <a:rPr lang="en" sz="1400">
                <a:solidFill>
                  <a:srgbClr val="000000"/>
                </a:solidFill>
              </a:rPr>
              <a:t> for the optimal transformation that minimizes the distance between associated points.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Repeat</a:t>
            </a:r>
            <a:r>
              <a:rPr lang="en" sz="1400">
                <a:solidFill>
                  <a:srgbClr val="000000"/>
                </a:solidFill>
              </a:rPr>
              <a:t> until convergence.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The resulting transform </a:t>
            </a:r>
            <a:r>
              <a:rPr lang="en" sz="1400">
                <a:solidFill>
                  <a:srgbClr val="188038"/>
                </a:solidFill>
              </a:rPr>
              <a:t>{Ĉ, r̂}</a:t>
            </a:r>
            <a:r>
              <a:rPr lang="en" sz="1400">
                <a:solidFill>
                  <a:srgbClr val="000000"/>
                </a:solidFill>
              </a:rPr>
              <a:t> is our motion measurement </a:t>
            </a:r>
            <a:r>
              <a:rPr lang="en" sz="1400">
                <a:solidFill>
                  <a:srgbClr val="188038"/>
                </a:solidFill>
              </a:rPr>
              <a:t>yk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840775" y="654775"/>
            <a:ext cx="8573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ICP Math: Step 1 &amp; 2 - Centroids &amp; Covariance</a:t>
            </a:r>
            <a:endParaRPr sz="2600"/>
          </a:p>
        </p:txBody>
      </p:sp>
      <p:sp>
        <p:nvSpPr>
          <p:cNvPr id="298" name="Google Shape;298;p40"/>
          <p:cNvSpPr txBox="1"/>
          <p:nvPr>
            <p:ph idx="1" type="subTitle"/>
          </p:nvPr>
        </p:nvSpPr>
        <p:spPr>
          <a:xfrm>
            <a:off x="2360850" y="1805972"/>
            <a:ext cx="5120700" cy="6024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 Centroids</a:t>
            </a:r>
            <a:r>
              <a:rPr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(Center of Mass) of the associated point sets Ps and Ps':</a:t>
            </a:r>
            <a:endParaRPr sz="1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9" name="Google Shape;299;p40"/>
          <p:cNvSpPr txBox="1"/>
          <p:nvPr>
            <p:ph idx="2" type="subTitle"/>
          </p:nvPr>
        </p:nvSpPr>
        <p:spPr>
          <a:xfrm>
            <a:off x="2360700" y="3098025"/>
            <a:ext cx="5120700" cy="5268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 Cross-Covariance Matrix</a:t>
            </a:r>
            <a:r>
              <a:rPr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of the centered points:</a:t>
            </a:r>
            <a:endParaRPr sz="1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0" name="Google Shape;300;p40"/>
          <p:cNvSpPr txBox="1"/>
          <p:nvPr>
            <p:ph idx="3" type="subTitle"/>
          </p:nvPr>
        </p:nvSpPr>
        <p:spPr>
          <a:xfrm>
            <a:off x="2360700" y="2408375"/>
            <a:ext cx="5120700" cy="689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μs = (1/n) * Σ(ps)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μs' = (1/n) * Σ(p's')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1" name="Google Shape;301;p40"/>
          <p:cNvSpPr txBox="1"/>
          <p:nvPr>
            <p:ph idx="4" type="subTitle"/>
          </p:nvPr>
        </p:nvSpPr>
        <p:spPr>
          <a:xfrm>
            <a:off x="2360700" y="3624875"/>
            <a:ext cx="5120700" cy="402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Wss' = (1/n) * Σ((ps - μs)(p's' - μs')^T)</a:t>
            </a:r>
            <a:endParaRPr sz="1400"/>
          </a:p>
        </p:txBody>
      </p:sp>
      <p:sp>
        <p:nvSpPr>
          <p:cNvPr id="302" name="Google Shape;302;p40"/>
          <p:cNvSpPr txBox="1"/>
          <p:nvPr/>
        </p:nvSpPr>
        <p:spPr>
          <a:xfrm>
            <a:off x="840775" y="1190375"/>
            <a:ext cx="65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We decouple the problem by solving for rotation first.</a:t>
            </a:r>
            <a:endParaRPr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840775" y="654775"/>
            <a:ext cx="8573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ICP Math: Step 3 - Finding Rotation via SVD</a:t>
            </a:r>
            <a:endParaRPr sz="2600"/>
          </a:p>
        </p:txBody>
      </p:sp>
      <p:sp>
        <p:nvSpPr>
          <p:cNvPr id="308" name="Google Shape;308;p41"/>
          <p:cNvSpPr txBox="1"/>
          <p:nvPr>
            <p:ph idx="3" type="subTitle"/>
          </p:nvPr>
        </p:nvSpPr>
        <p:spPr>
          <a:xfrm>
            <a:off x="840775" y="1805975"/>
            <a:ext cx="6640500" cy="2210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SVD: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188038"/>
                </a:solidFill>
              </a:rPr>
              <a:t>W = U * S * V^T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Optimal Rotation </a:t>
            </a:r>
            <a:r>
              <a:rPr b="1" lang="en" sz="1400">
                <a:solidFill>
                  <a:srgbClr val="188038"/>
                </a:solidFill>
              </a:rPr>
              <a:t>Ĉ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r>
              <a:rPr lang="en" sz="1400">
                <a:solidFill>
                  <a:srgbClr val="000000"/>
                </a:solidFill>
              </a:rPr>
              <a:t> We combine the rotational components and discard scaling, ensuring a proper rotation.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rgbClr val="188038"/>
                </a:solidFill>
              </a:rPr>
              <a:t>Ĉ = U * diag(1, 1, det(U) * det(V)) * V^T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8038"/>
              </a:solidFill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840775" y="1190375"/>
            <a:ext cx="65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We use </a:t>
            </a:r>
            <a:r>
              <a:rPr b="1"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Singular Value Decomposition (SVD)</a:t>
            </a: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to factor the cross-covariance matrix W.</a:t>
            </a:r>
            <a:endParaRPr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/>
          <p:nvPr>
            <p:ph type="title"/>
          </p:nvPr>
        </p:nvSpPr>
        <p:spPr>
          <a:xfrm>
            <a:off x="840775" y="654775"/>
            <a:ext cx="8573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ICP Math: Step 4 - Finding Translation</a:t>
            </a:r>
            <a:endParaRPr sz="2600"/>
          </a:p>
        </p:txBody>
      </p:sp>
      <p:sp>
        <p:nvSpPr>
          <p:cNvPr id="315" name="Google Shape;315;p42"/>
          <p:cNvSpPr txBox="1"/>
          <p:nvPr>
            <p:ph idx="3" type="subTitle"/>
          </p:nvPr>
        </p:nvSpPr>
        <p:spPr>
          <a:xfrm>
            <a:off x="840775" y="1805975"/>
            <a:ext cx="6640500" cy="2210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Optimal Translation </a:t>
            </a:r>
            <a:r>
              <a:rPr b="1" lang="en" sz="1400">
                <a:solidFill>
                  <a:srgbClr val="188038"/>
                </a:solidFill>
              </a:rPr>
              <a:t>r̂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r>
              <a:rPr lang="en" sz="1400">
                <a:solidFill>
                  <a:srgbClr val="000000"/>
                </a:solidFill>
              </a:rPr>
              <a:t> The translation is the vector that aligns the rotated centroid of the first cloud with the centroid of the second.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lang="en" sz="1400">
                <a:solidFill>
                  <a:srgbClr val="188038"/>
                </a:solidFill>
              </a:rPr>
              <a:t>r̂ = μs' - Ĉ * μs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The final transform </a:t>
            </a:r>
            <a:r>
              <a:rPr lang="en" sz="1400">
                <a:solidFill>
                  <a:srgbClr val="188038"/>
                </a:solidFill>
              </a:rPr>
              <a:t>{Ĉ, r̂}</a:t>
            </a:r>
            <a:r>
              <a:rPr lang="en" sz="1400">
                <a:solidFill>
                  <a:srgbClr val="000000"/>
                </a:solidFill>
              </a:rPr>
              <a:t> is our motion measurement </a:t>
            </a:r>
            <a:r>
              <a:rPr lang="en" sz="1400">
                <a:solidFill>
                  <a:srgbClr val="188038"/>
                </a:solidFill>
              </a:rPr>
              <a:t>yk</a:t>
            </a:r>
            <a:r>
              <a:rPr lang="en" sz="1400">
                <a:solidFill>
                  <a:srgbClr val="000000"/>
                </a:solidFill>
              </a:rPr>
              <a:t>. This is a </a:t>
            </a:r>
            <a:r>
              <a:rPr b="1" lang="en" sz="1400">
                <a:solidFill>
                  <a:srgbClr val="000000"/>
                </a:solidFill>
              </a:rPr>
              <a:t>Point-to-Point</a:t>
            </a:r>
            <a:r>
              <a:rPr lang="en" sz="1400">
                <a:solidFill>
                  <a:srgbClr val="000000"/>
                </a:solidFill>
              </a:rPr>
              <a:t> ICP approach.</a:t>
            </a:r>
            <a:endParaRPr sz="14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840775" y="1190375"/>
            <a:ext cx="65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With the optimal rotation Ĉ known, we can solve for the translation r̂.</a:t>
            </a:r>
            <a:endParaRPr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/>
          <p:nvPr>
            <p:ph type="title"/>
          </p:nvPr>
        </p:nvSpPr>
        <p:spPr>
          <a:xfrm>
            <a:off x="720000" y="673550"/>
            <a:ext cx="77040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Challenge: Outliers in a Dynamic World</a:t>
            </a:r>
            <a:endParaRPr/>
          </a:p>
        </p:txBody>
      </p:sp>
      <p:sp>
        <p:nvSpPr>
          <p:cNvPr id="322" name="Google Shape;322;p43"/>
          <p:cNvSpPr txBox="1"/>
          <p:nvPr>
            <p:ph idx="2" type="subTitle"/>
          </p:nvPr>
        </p:nvSpPr>
        <p:spPr>
          <a:xfrm>
            <a:off x="4826925" y="1580125"/>
            <a:ext cx="3597000" cy="17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Problem: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Outliers from dynamic objects violate the static world assumption of ICP. They corrupt the centroid calculation and lead to incorrect alignment.</a:t>
            </a:r>
            <a:endParaRPr/>
          </a:p>
        </p:txBody>
      </p:sp>
      <p:sp>
        <p:nvSpPr>
          <p:cNvPr id="323" name="Google Shape;323;p43"/>
          <p:cNvSpPr txBox="1"/>
          <p:nvPr>
            <p:ph idx="1" type="subTitle"/>
          </p:nvPr>
        </p:nvSpPr>
        <p:spPr>
          <a:xfrm>
            <a:off x="720075" y="1580125"/>
            <a:ext cx="3597000" cy="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when the world isn't static? (e.g., a moving truck appears).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black and white drawing of a delivery truck moving fast . (provided by Tenor)" id="324" name="Google Shape;32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048" y="2428825"/>
            <a:ext cx="1982025" cy="15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type="title"/>
          </p:nvPr>
        </p:nvSpPr>
        <p:spPr>
          <a:xfrm>
            <a:off x="720000" y="673550"/>
            <a:ext cx="77040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Challenge: Outliers in a Dynamic World</a:t>
            </a:r>
            <a:br>
              <a:rPr lang="en"/>
            </a:br>
            <a:r>
              <a:rPr lang="en"/>
              <a:t>Solutions</a:t>
            </a:r>
            <a:endParaRPr/>
          </a:p>
        </p:txBody>
      </p:sp>
      <p:sp>
        <p:nvSpPr>
          <p:cNvPr id="330" name="Google Shape;330;p44"/>
          <p:cNvSpPr txBox="1"/>
          <p:nvPr>
            <p:ph idx="2" type="subTitle"/>
          </p:nvPr>
        </p:nvSpPr>
        <p:spPr>
          <a:xfrm>
            <a:off x="4826925" y="1580125"/>
            <a:ext cx="3597000" cy="2389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Full Sensor Fusion (ES-EKF):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Use a probabilistic framework to weigh the LiDAR measurement against the IMU prediction based on their respective uncertainties. </a:t>
            </a:r>
            <a:r>
              <a:rPr b="1" lang="en">
                <a:solidFill>
                  <a:srgbClr val="000000"/>
                </a:solidFill>
              </a:rPr>
              <a:t>This is the more comprehensive approach.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331" name="Google Shape;331;p44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Robust Loss Functions: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 error metrics (e.g., L1 Norm, Huber) that are less sensitive to large errors.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type="title"/>
          </p:nvPr>
        </p:nvSpPr>
        <p:spPr>
          <a:xfrm>
            <a:off x="1755325" y="690550"/>
            <a:ext cx="7189200" cy="699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Update Measurement from GNSS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1755325" y="1390050"/>
            <a:ext cx="7189200" cy="3178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To get a measurement (</a:t>
            </a:r>
            <a:r>
              <a:rPr lang="en" sz="1400">
                <a:solidFill>
                  <a:srgbClr val="188038"/>
                </a:solidFill>
              </a:rPr>
              <a:t>yk</a:t>
            </a:r>
            <a:r>
              <a:rPr lang="en" sz="1400">
                <a:solidFill>
                  <a:srgbClr val="000000"/>
                </a:solidFill>
              </a:rPr>
              <a:t>) from GPS/GNSS, we use the position it provides directly.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</a:rPr>
              <a:t>Measurement Model:</a:t>
            </a:r>
            <a:r>
              <a:rPr lang="en" sz="1400">
                <a:solidFill>
                  <a:srgbClr val="000000"/>
                </a:solidFill>
              </a:rPr>
              <a:t> A direct observation of position.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○"/>
            </a:pPr>
            <a:r>
              <a:rPr lang="en">
                <a:solidFill>
                  <a:srgbClr val="188038"/>
                </a:solidFill>
              </a:rPr>
              <a:t>yk = pk + νk</a:t>
            </a:r>
            <a:endParaRPr>
              <a:solidFill>
                <a:srgbClr val="188038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188038"/>
                </a:solidFill>
              </a:rPr>
              <a:t>Hk = [ I 0 0 ]</a:t>
            </a:r>
            <a:r>
              <a:rPr lang="en">
                <a:solidFill>
                  <a:srgbClr val="000000"/>
                </a:solidFill>
              </a:rPr>
              <a:t> (Observation matrix)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188038"/>
                </a:solidFill>
              </a:rPr>
              <a:t>νk</a:t>
            </a:r>
            <a:r>
              <a:rPr lang="en">
                <a:solidFill>
                  <a:srgbClr val="000000"/>
                </a:solidFill>
              </a:rPr>
              <a:t> is the measurement noise, with covariance </a:t>
            </a:r>
            <a:r>
              <a:rPr lang="en">
                <a:solidFill>
                  <a:srgbClr val="188038"/>
                </a:solidFill>
              </a:rPr>
              <a:t>R_GNSS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type="title"/>
          </p:nvPr>
        </p:nvSpPr>
        <p:spPr>
          <a:xfrm>
            <a:off x="840775" y="654775"/>
            <a:ext cx="8573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ES-EKF Update Loop - Step 1 &amp; 2</a:t>
            </a:r>
            <a:endParaRPr sz="2600"/>
          </a:p>
        </p:txBody>
      </p:sp>
      <p:sp>
        <p:nvSpPr>
          <p:cNvPr id="343" name="Google Shape;343;p46"/>
          <p:cNvSpPr txBox="1"/>
          <p:nvPr>
            <p:ph idx="1" type="subTitle"/>
          </p:nvPr>
        </p:nvSpPr>
        <p:spPr>
          <a:xfrm>
            <a:off x="2360850" y="1805963"/>
            <a:ext cx="5120700" cy="7653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 Kalman Gain (Kk):</a:t>
            </a:r>
            <a:r>
              <a:rPr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The gain optimally weighs the prediction uncertainty against the measurement uncertainty.</a:t>
            </a:r>
            <a:endParaRPr sz="1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4" name="Google Shape;344;p46"/>
          <p:cNvSpPr txBox="1"/>
          <p:nvPr>
            <p:ph idx="2" type="subTitle"/>
          </p:nvPr>
        </p:nvSpPr>
        <p:spPr>
          <a:xfrm>
            <a:off x="2360700" y="3098025"/>
            <a:ext cx="5120700" cy="5268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 Error State (δxk):</a:t>
            </a:r>
            <a:r>
              <a:rPr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The filter estimates the error in our prediction.</a:t>
            </a:r>
            <a:endParaRPr sz="1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5" name="Google Shape;345;p46"/>
          <p:cNvSpPr txBox="1"/>
          <p:nvPr>
            <p:ph idx="3" type="subTitle"/>
          </p:nvPr>
        </p:nvSpPr>
        <p:spPr>
          <a:xfrm>
            <a:off x="2360700" y="2571225"/>
            <a:ext cx="5120700" cy="526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Kk = P̃k * Hk^T * (Hk * P̃k * Hk^T + R)^-1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46" name="Google Shape;346;p46"/>
          <p:cNvSpPr txBox="1"/>
          <p:nvPr>
            <p:ph idx="4" type="subTitle"/>
          </p:nvPr>
        </p:nvSpPr>
        <p:spPr>
          <a:xfrm>
            <a:off x="2360700" y="3624875"/>
            <a:ext cx="5120700" cy="402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δxk = Kk * (yk - p̃k)</a:t>
            </a:r>
            <a:endParaRPr sz="1400"/>
          </a:p>
        </p:txBody>
      </p:sp>
      <p:sp>
        <p:nvSpPr>
          <p:cNvPr id="347" name="Google Shape;347;p46"/>
          <p:cNvSpPr txBox="1"/>
          <p:nvPr/>
        </p:nvSpPr>
        <p:spPr>
          <a:xfrm>
            <a:off x="840775" y="1190375"/>
            <a:ext cx="65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This is the core fusion algorithm, performed whenever a LiDAR or GNSS measurement yk is available.</a:t>
            </a:r>
            <a:endParaRPr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"/>
          <p:cNvSpPr txBox="1"/>
          <p:nvPr>
            <p:ph type="title"/>
          </p:nvPr>
        </p:nvSpPr>
        <p:spPr>
          <a:xfrm>
            <a:off x="840775" y="654775"/>
            <a:ext cx="8573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ES-EKF Update Loop - Step 3 &amp; 4</a:t>
            </a:r>
            <a:endParaRPr sz="2600"/>
          </a:p>
        </p:txBody>
      </p:sp>
      <p:sp>
        <p:nvSpPr>
          <p:cNvPr id="353" name="Google Shape;353;p47"/>
          <p:cNvSpPr txBox="1"/>
          <p:nvPr>
            <p:ph idx="1" type="subTitle"/>
          </p:nvPr>
        </p:nvSpPr>
        <p:spPr>
          <a:xfrm>
            <a:off x="2360849" y="1330750"/>
            <a:ext cx="51207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Correct Predicted State:</a:t>
            </a:r>
            <a:r>
              <a:rPr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The error state is applied to correct the drifted prediction.</a:t>
            </a:r>
            <a:endParaRPr sz="1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4" name="Google Shape;354;p47"/>
          <p:cNvSpPr txBox="1"/>
          <p:nvPr>
            <p:ph idx="2" type="subTitle"/>
          </p:nvPr>
        </p:nvSpPr>
        <p:spPr>
          <a:xfrm>
            <a:off x="2360699" y="3067775"/>
            <a:ext cx="51207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Compute Corrected Covariance (P̂k):</a:t>
            </a:r>
            <a:r>
              <a:rPr lang="en" sz="1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The uncertainty is reduced.</a:t>
            </a:r>
            <a:endParaRPr sz="1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5" name="Google Shape;355;p47"/>
          <p:cNvSpPr txBox="1"/>
          <p:nvPr>
            <p:ph idx="3" type="subTitle"/>
          </p:nvPr>
        </p:nvSpPr>
        <p:spPr>
          <a:xfrm>
            <a:off x="2360699" y="1827225"/>
            <a:ext cx="5120700" cy="1167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p̂k = p̃k + δpk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v̂k = ṽk + δvk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q̂k = q(δφ) ⊗ q̃k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(Correction is multiplicative for rotation</a:t>
            </a:r>
            <a:br>
              <a:rPr lang="en" sz="1400"/>
            </a:br>
            <a:r>
              <a:rPr lang="en" sz="1400"/>
              <a:t>,global orientation error)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6" name="Google Shape;356;p47"/>
          <p:cNvSpPr txBox="1"/>
          <p:nvPr>
            <p:ph idx="4" type="subTitle"/>
          </p:nvPr>
        </p:nvSpPr>
        <p:spPr>
          <a:xfrm>
            <a:off x="2360700" y="3564275"/>
            <a:ext cx="51207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P̂k = (I - Kk * Hk) * P̃k</a:t>
            </a:r>
            <a:endParaRPr sz="1400"/>
          </a:p>
        </p:txBody>
      </p:sp>
      <p:sp>
        <p:nvSpPr>
          <p:cNvPr id="357" name="Google Shape;357;p47"/>
          <p:cNvSpPr txBox="1"/>
          <p:nvPr/>
        </p:nvSpPr>
        <p:spPr>
          <a:xfrm>
            <a:off x="2054675" y="4136975"/>
            <a:ext cx="65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 corrected state (^) becomes the input for the next prediction cycle.</a:t>
            </a:r>
            <a:endParaRPr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>
            <p:ph type="title"/>
          </p:nvPr>
        </p:nvSpPr>
        <p:spPr>
          <a:xfrm>
            <a:off x="1759850" y="654800"/>
            <a:ext cx="7200600" cy="4146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Loop: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1. Update state with IMU inputs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2. Propagate uncertainty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 If GNSS or LIDAR position available:</a:t>
            </a:r>
            <a:endParaRPr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1. Compute Kalman Gain</a:t>
            </a:r>
            <a:endParaRPr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2. Compute error state</a:t>
            </a:r>
            <a:endParaRPr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 Correct predicted state</a:t>
            </a:r>
            <a:endParaRPr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4. Computed corrected covariance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"/>
          <p:cNvSpPr txBox="1"/>
          <p:nvPr>
            <p:ph idx="1" type="subTitle"/>
          </p:nvPr>
        </p:nvSpPr>
        <p:spPr>
          <a:xfrm>
            <a:off x="1107250" y="1796625"/>
            <a:ext cx="6544200" cy="53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LIDAR provides positions in the same reference frame as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GNSS (possible)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8" name="Google Shape;368;p49"/>
          <p:cNvSpPr txBox="1"/>
          <p:nvPr>
            <p:ph idx="2" type="subTitle"/>
          </p:nvPr>
        </p:nvSpPr>
        <p:spPr>
          <a:xfrm>
            <a:off x="1107250" y="2442825"/>
            <a:ext cx="6544200" cy="53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IMU has no biases (not realistic!)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9" name="Google Shape;369;p49"/>
          <p:cNvSpPr txBox="1"/>
          <p:nvPr>
            <p:ph idx="3" type="subTitle"/>
          </p:nvPr>
        </p:nvSpPr>
        <p:spPr>
          <a:xfrm>
            <a:off x="1107250" y="3089050"/>
            <a:ext cx="6544200" cy="53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State initialization is provided (realistic)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0" name="Google Shape;370;p49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</p:txBody>
      </p:sp>
      <p:sp>
        <p:nvSpPr>
          <p:cNvPr id="371" name="Google Shape;371;p49"/>
          <p:cNvSpPr txBox="1"/>
          <p:nvPr>
            <p:ph idx="4" type="subTitle"/>
          </p:nvPr>
        </p:nvSpPr>
        <p:spPr>
          <a:xfrm>
            <a:off x="1107250" y="3735250"/>
            <a:ext cx="6544200" cy="53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Our sensors are spatially and temporally aligned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(somewhat realistic)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2" name="Google Shape;372;p49"/>
          <p:cNvSpPr txBox="1"/>
          <p:nvPr>
            <p:ph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73" name="Google Shape;373;p49"/>
          <p:cNvSpPr txBox="1"/>
          <p:nvPr>
            <p:ph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74" name="Google Shape;374;p49"/>
          <p:cNvSpPr txBox="1"/>
          <p:nvPr>
            <p:ph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75" name="Google Shape;375;p49"/>
          <p:cNvSpPr txBox="1"/>
          <p:nvPr>
            <p:ph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(UuU)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